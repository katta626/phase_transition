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39"/>
    <p:restoredTop sz="94625"/>
  </p:normalViewPr>
  <p:slideViewPr>
    <p:cSldViewPr snapToGrid="0">
      <p:cViewPr varScale="1">
        <p:scale>
          <a:sx n="116" d="100"/>
          <a:sy n="116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1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2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1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0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77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7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4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9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4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1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3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DAF1DF6-F7E0-764E-B372-8F131C59179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EEA7C8A-0018-1940-89BB-3A1B48EA5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7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2.wdp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BFD69-539F-F9B6-A914-16F57CF9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43468"/>
            <a:ext cx="9966960" cy="35924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Chalkboard" panose="03050602040202020205" pitchFamily="66" charset="77"/>
              </a:rPr>
              <a:t>Investigating Max Pressure Jump in Mixed Phase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" name="Picture 2" descr="IISER Bhopal">
            <a:extLst>
              <a:ext uri="{FF2B5EF4-FFF2-40B4-BE49-F238E27FC236}">
                <a16:creationId xmlns:a16="http://schemas.microsoft.com/office/drawing/2014/main" id="{B4B1859B-43FA-97D0-6C81-393D62067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747" y="4853956"/>
            <a:ext cx="3076590" cy="163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7F08B3-C3F5-6131-2E2D-D55EAF3A1D89}"/>
              </a:ext>
            </a:extLst>
          </p:cNvPr>
          <p:cNvSpPr txBox="1"/>
          <p:nvPr/>
        </p:nvSpPr>
        <p:spPr>
          <a:xfrm>
            <a:off x="1343819" y="4896420"/>
            <a:ext cx="54102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kayaKanadaka" panose="02010502080401010103" pitchFamily="2" charset="77"/>
                <a:cs typeface="AkayaKanadaka" panose="02010502080401010103" pitchFamily="2" charset="77"/>
              </a:rPr>
              <a:t>Katta Naveen</a:t>
            </a:r>
          </a:p>
          <a:p>
            <a:endParaRPr lang="en-US" dirty="0"/>
          </a:p>
          <a:p>
            <a:r>
              <a:rPr lang="en-US" dirty="0"/>
              <a:t>Supervisor : Dr .</a:t>
            </a:r>
            <a:r>
              <a:rPr lang="en-IN" sz="1800" b="1" i="0" u="none" strike="noStrike" dirty="0" err="1">
                <a:solidFill>
                  <a:srgbClr val="212121"/>
                </a:solidFill>
                <a:effectLst/>
                <a:latin typeface="AkayaKanadaka" panose="02010502080401010103" pitchFamily="2" charset="77"/>
                <a:cs typeface="AkayaKanadaka" panose="02010502080401010103" pitchFamily="2" charset="77"/>
              </a:rPr>
              <a:t>Ritam</a:t>
            </a:r>
            <a:r>
              <a:rPr lang="en-IN" sz="1800" b="1" i="0" u="none" strike="noStrike" dirty="0">
                <a:solidFill>
                  <a:srgbClr val="212121"/>
                </a:solidFill>
                <a:effectLst/>
                <a:latin typeface="AkayaKanadaka" panose="02010502080401010103" pitchFamily="2" charset="77"/>
                <a:cs typeface="AkayaKanadaka" panose="02010502080401010103" pitchFamily="2" charset="77"/>
              </a:rPr>
              <a:t> Mallick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FDF23-7669-DEB8-0D03-E50E7439C60D}"/>
              </a:ext>
            </a:extLst>
          </p:cNvPr>
          <p:cNvSpPr txBox="1"/>
          <p:nvPr/>
        </p:nvSpPr>
        <p:spPr>
          <a:xfrm>
            <a:off x="9577550" y="6225460"/>
            <a:ext cx="2541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adley Hand" pitchFamily="2" charset="77"/>
              </a:rPr>
              <a:t>Department of Physics</a:t>
            </a:r>
          </a:p>
        </p:txBody>
      </p:sp>
    </p:spTree>
    <p:extLst>
      <p:ext uri="{BB962C8B-B14F-4D97-AF65-F5344CB8AC3E}">
        <p14:creationId xmlns:p14="http://schemas.microsoft.com/office/powerpoint/2010/main" val="390151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F6AE05-E586-87E5-319C-64FFB71B5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9" r="3" b="3"/>
          <a:stretch/>
        </p:blipFill>
        <p:spPr>
          <a:xfrm>
            <a:off x="128530" y="3509433"/>
            <a:ext cx="4349963" cy="325489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81BB01C-2DAE-48BD-8E81-DAE2E1BC4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70A57-B2A1-E895-3D8F-E193B5493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633" y="-133860"/>
            <a:ext cx="6730276" cy="1609344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Chalkboard" panose="03050602040202020205" pitchFamily="66" charset="77"/>
              </a:rPr>
              <a:t>Introduction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E6DCAC-7A40-B5D9-A08A-AE1F75F59A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45" r="1" b="1"/>
          <a:stretch/>
        </p:blipFill>
        <p:spPr>
          <a:xfrm>
            <a:off x="108443" y="318159"/>
            <a:ext cx="4264951" cy="31912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F31DA-5C40-5D26-6B61-192D65590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8074" y="1341624"/>
            <a:ext cx="7115395" cy="4716939"/>
          </a:xfrm>
        </p:spPr>
        <p:txBody>
          <a:bodyPr>
            <a:normAutofit/>
          </a:bodyPr>
          <a:lstStyle/>
          <a:p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In neutron stars, extreme high-density and low-</a:t>
            </a:r>
            <a:r>
              <a:rPr lang="en-IN" sz="1600" b="0" i="0" u="none" strike="noStrike">
                <a:solidFill>
                  <a:srgbClr val="000000"/>
                </a:solidFill>
                <a:effectLst/>
              </a:rPr>
              <a:t>temprature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conditions—unachievable on Earth—allow us to study phase transitions at those conditions.</a:t>
            </a:r>
          </a:p>
          <a:p>
            <a:r>
              <a:rPr lang="en-US" sz="1600" dirty="0"/>
              <a:t>We investigate the phase transition between hadronic to quark matter in neutron stars by using a quadratic interpolation method.</a:t>
            </a:r>
          </a:p>
          <a:p>
            <a:r>
              <a:rPr lang="en-US" sz="1600" dirty="0"/>
              <a:t>By implementing a piecewise polytropic equation of state (EOS) for the hadronic and quark phases, we create a smooth transition across the mixed phase.</a:t>
            </a:r>
          </a:p>
          <a:p>
            <a:r>
              <a:rPr lang="en-US" sz="1600" dirty="0"/>
              <a:t>We are trying to learn how the smoothness of the transition behaves if we keep on changing the </a:t>
            </a:r>
            <a:r>
              <a:rPr lang="en-US" sz="1600" dirty="0" err="1"/>
              <a:t>EoS</a:t>
            </a:r>
            <a:r>
              <a:rPr lang="en-US" sz="1600" dirty="0"/>
              <a:t>.</a:t>
            </a:r>
          </a:p>
          <a:p>
            <a:r>
              <a:rPr lang="en-US" sz="1600" dirty="0"/>
              <a:t>And finally for a any given </a:t>
            </a:r>
            <a:r>
              <a:rPr lang="en-US" sz="1600" dirty="0" err="1"/>
              <a:t>EoS</a:t>
            </a:r>
            <a:r>
              <a:rPr lang="en-US" sz="1600" dirty="0"/>
              <a:t> can we determine the maximum smoothness of the mixed phase.</a:t>
            </a:r>
          </a:p>
          <a:p>
            <a:r>
              <a:rPr lang="en-US" sz="1600" dirty="0"/>
              <a:t>We construct </a:t>
            </a:r>
            <a:r>
              <a:rPr lang="en-US" sz="1600" dirty="0" err="1"/>
              <a:t>EoS</a:t>
            </a:r>
            <a:r>
              <a:rPr lang="en-US" sz="1600" dirty="0"/>
              <a:t> using piecewise </a:t>
            </a:r>
            <a:r>
              <a:rPr lang="en-US" sz="1600" dirty="0" err="1"/>
              <a:t>polytrope</a:t>
            </a:r>
            <a:r>
              <a:rPr lang="en-US" sz="1600" dirty="0"/>
              <a:t>.</a:t>
            </a:r>
          </a:p>
          <a:p>
            <a:r>
              <a:rPr lang="en-US" sz="1600" dirty="0"/>
              <a:t>The </a:t>
            </a:r>
            <a:r>
              <a:rPr lang="en-US" sz="1600" dirty="0" err="1"/>
              <a:t>EoS</a:t>
            </a:r>
            <a:r>
              <a:rPr lang="en-US" sz="1600" dirty="0"/>
              <a:t> is divided into three </a:t>
            </a:r>
            <a:r>
              <a:rPr lang="en-US" sz="1600" dirty="0" err="1"/>
              <a:t>polytropes</a:t>
            </a:r>
            <a:r>
              <a:rPr lang="en-US" sz="1600" dirty="0"/>
              <a:t> for having hadronic, mixed and quark phase.</a:t>
            </a:r>
          </a:p>
          <a:p>
            <a:endParaRPr lang="en-US" sz="1600" dirty="0"/>
          </a:p>
          <a:p>
            <a:endParaRPr lang="en-IN" sz="1600" u="none" strike="noStrike" dirty="0">
              <a:effectLst/>
              <a:latin typeface="Angsana New" panose="02020603050405020304" pitchFamily="18" charset="-34"/>
              <a:ea typeface="Baskerville" panose="02020502070401020303" pitchFamily="18" charset="0"/>
              <a:cs typeface="Angsana New" panose="02020603050405020304" pitchFamily="18" charset="-34"/>
            </a:endParaRPr>
          </a:p>
          <a:p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55FF18-1979-4730-A345-E74E328F0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F8381C4-0751-4A6E-BFF7-48DF67BFA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7320C1D-D7A9-4392-B3B6-ACEF193A8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755E364-CBA6-B51E-B5D2-0522574E150E}"/>
              </a:ext>
            </a:extLst>
          </p:cNvPr>
          <p:cNvSpPr txBox="1"/>
          <p:nvPr/>
        </p:nvSpPr>
        <p:spPr>
          <a:xfrm>
            <a:off x="9833113" y="53273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2" descr="IISER Bhopal">
            <a:extLst>
              <a:ext uri="{FF2B5EF4-FFF2-40B4-BE49-F238E27FC236}">
                <a16:creationId xmlns:a16="http://schemas.microsoft.com/office/drawing/2014/main" id="{AE33667E-5A0F-CDC4-B28F-47B541EB9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676" y="5909172"/>
            <a:ext cx="1847296" cy="98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08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1F564-F197-21D0-A391-DE71CA60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5697405-D261-4D6B-8E15-0FF5AE9DD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73C2C-7E34-EC54-6045-E0337517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329" y="13602"/>
            <a:ext cx="6057994" cy="804808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Chalkboard" panose="03050602040202020205" pitchFamily="66" charset="77"/>
              </a:rPr>
              <a:t>Quadratic 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9D4AC6-6359-B0C1-B296-44C09D9DE3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7641" y="778559"/>
                <a:ext cx="7666788" cy="233628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4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We  consider quadratic form of the mixed phase around a pressure point</a:t>
                </a:r>
                <a:r>
                  <a:rPr lang="en-US" sz="18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,</a:t>
                </a:r>
                <a:r>
                  <a:rPr lang="en-IN" sz="1800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</m:d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α</m:t>
                    </m:r>
                    <m:sSup>
                      <m:s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β</m:t>
                    </m:r>
                    <m:d>
                      <m:d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μ</m:t>
                        </m:r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IN" sz="1800" kern="100" dirty="0">
                    <a:latin typeface="Aptos" panose="020B0004020202020204" pitchFamily="34" charset="0"/>
                    <a:ea typeface="Baskerville" panose="02020502070401020303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400" kern="1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We have four unknowns : alpha, beta</a:t>
                </a:r>
                <a:r>
                  <a:rPr lang="en-IN" sz="1800" kern="100" dirty="0">
                    <a:latin typeface="Aptos" panose="020B0004020202020204" pitchFamily="34" charset="0"/>
                    <a:ea typeface="Baskerville" panose="02020502070401020303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𝑐𝐻</m:t>
                        </m:r>
                      </m:sub>
                    </m:sSub>
                  </m:oMath>
                </a14:m>
                <a:r>
                  <a:rPr lang="en-IN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90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1900" i="1">
                            <a:latin typeface="Cambria Math" panose="02040503050406030204" pitchFamily="18" charset="0"/>
                          </a:rPr>
                          <m:t>𝑐𝑄</m:t>
                        </m:r>
                      </m:sub>
                    </m:sSub>
                  </m:oMath>
                </a14:m>
                <a:r>
                  <a:rPr lang="en-IN" sz="1900" dirty="0"/>
                  <a:t> .</a:t>
                </a:r>
                <a:endParaRPr lang="en-US" sz="1800" dirty="0">
                  <a:latin typeface="Aptos" panose="020B00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26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Boundary Conditions :</a:t>
                </a:r>
                <a:endParaRPr lang="en-US" sz="1800" dirty="0">
                  <a:latin typeface="Angsana New" panose="02020603050405020304" pitchFamily="18" charset="-34"/>
                  <a:ea typeface="Baskerville" panose="02020502070401020303" pitchFamily="18" charset="0"/>
                  <a:cs typeface="Angsana New" panose="02020603050405020304" pitchFamily="18" charset="-34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𝑐𝐻</m:t>
                            </m:r>
                          </m:sub>
                        </m:sSub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𝑐𝐻</m:t>
                            </m:r>
                          </m:sub>
                        </m:sSub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𝑐𝑄</m:t>
                            </m:r>
                          </m:sub>
                        </m:sSub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𝑐𝑄</m:t>
                            </m:r>
                          </m:sub>
                        </m:sSub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sz="1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𝑐𝐻</m:t>
                            </m:r>
                          </m:sub>
                        </m:sSub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𝑐𝐻</m:t>
                            </m:r>
                          </m:sub>
                        </m:sSub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𝑐𝑄</m:t>
                            </m:r>
                          </m:sub>
                        </m:sSub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𝑐𝑄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800" dirty="0">
                    <a:effectLst/>
                  </a:rPr>
                  <a:t> </a:t>
                </a:r>
                <a:endParaRPr lang="en-US" sz="1800" dirty="0">
                  <a:latin typeface="Angsana New" panose="02020603050405020304" pitchFamily="18" charset="-34"/>
                  <a:ea typeface="Baskerville" panose="02020502070401020303" pitchFamily="18" charset="0"/>
                  <a:cs typeface="Angsana New" panose="02020603050405020304" pitchFamily="18" charset="-34"/>
                </a:endParaRPr>
              </a:p>
              <a:p>
                <a:pPr marL="0" indent="0" algn="ctr">
                  <a:buNone/>
                </a:pPr>
                <a:endParaRPr lang="en-US" sz="2800" dirty="0">
                  <a:latin typeface="Angsana New" panose="02020603050405020304" pitchFamily="18" charset="-34"/>
                  <a:ea typeface="Baskerville" panose="02020502070401020303" pitchFamily="18" charset="0"/>
                  <a:cs typeface="Angsana New" panose="02020603050405020304" pitchFamily="18" charset="-3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9D4AC6-6359-B0C1-B296-44C09D9DE3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7641" y="778559"/>
                <a:ext cx="7666788" cy="2336282"/>
              </a:xfrm>
              <a:blipFill>
                <a:blip r:embed="rId4"/>
                <a:stretch>
                  <a:fillRect l="-662" t="-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19373530-15FD-4390-A707-0FA6DA4D5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3054FEE-E83D-4966-B2E7-594F3F4C0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741C56-588D-4397-A8F3-E84E946E0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" name="Picture 3" descr="A diagram of a chemical potential&#10;&#10;Description automatically generated">
            <a:extLst>
              <a:ext uri="{FF2B5EF4-FFF2-40B4-BE49-F238E27FC236}">
                <a16:creationId xmlns:a16="http://schemas.microsoft.com/office/drawing/2014/main" id="{347364DC-E71A-9977-52C7-8552E4209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525" y="3311399"/>
            <a:ext cx="4233602" cy="3213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23917F-F521-6AF0-291B-6B32F93E15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706" y="275215"/>
            <a:ext cx="4103828" cy="30953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58E2D1-4283-ABBC-F4B3-76831E5290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637" y="3370594"/>
            <a:ext cx="4070634" cy="3095378"/>
          </a:xfrm>
          <a:prstGeom prst="rect">
            <a:avLst/>
          </a:prstGeom>
        </p:spPr>
      </p:pic>
      <p:pic>
        <p:nvPicPr>
          <p:cNvPr id="11" name="Picture 2" descr="IISER Bhopal">
            <a:extLst>
              <a:ext uri="{FF2B5EF4-FFF2-40B4-BE49-F238E27FC236}">
                <a16:creationId xmlns:a16="http://schemas.microsoft.com/office/drawing/2014/main" id="{A5CD51FF-9FB0-9604-C3B0-F86A7EF92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676" y="5909172"/>
            <a:ext cx="1847296" cy="98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94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41589-A00D-BE34-D519-F23B8BCC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C6A80A-C3F4-48DE-80ED-845C8B3E1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6D159-27CB-46A8-3DCD-1F6794C3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-141580"/>
            <a:ext cx="7221891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N" sz="2800" dirty="0">
                <a:latin typeface="Chalkboard" panose="03050602040202020205" pitchFamily="66" charset="77"/>
              </a:rPr>
              <a:t>MAXIMUM INTERPOLATION ACHIEVABLE</a:t>
            </a:r>
            <a:endParaRPr lang="en-US" sz="2800" dirty="0">
              <a:latin typeface="Chalkboard" panose="03050602040202020205" pitchFamily="66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48482-5968-BDFF-6C18-82E73EE69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01" y="3440931"/>
            <a:ext cx="4270989" cy="3245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F319A5-BAA1-0563-0C13-8602F229A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01" y="183050"/>
            <a:ext cx="4371650" cy="32459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C0B1D-70DF-F283-2B33-D1A8AC8965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84916" y="1262350"/>
                <a:ext cx="6730276" cy="884269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Now we will keep the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𝑐𝐻</m:t>
                        </m:r>
                      </m:sub>
                    </m:sSub>
                  </m:oMath>
                </a14:m>
                <a:r>
                  <a:rPr lang="en-IN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to initial chemical potential of hadronic phase. </a:t>
                </a:r>
              </a:p>
              <a:p>
                <a:r>
                  <a:rPr lang="en-US" sz="18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We develop a model such that it finds the optimal values of alpha and beta for such </a:t>
                </a:r>
                <a:r>
                  <a:rPr lang="en-US" sz="1800" dirty="0" err="1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EoS</a:t>
                </a:r>
                <a:r>
                  <a:rPr lang="en-US" sz="1800" dirty="0">
                    <a:latin typeface="Angsana New" panose="02020603050405020304" pitchFamily="18" charset="-34"/>
                    <a:ea typeface="Baskerville" panose="02020502070401020303" pitchFamily="18" charset="0"/>
                    <a:cs typeface="Angsana New" panose="02020603050405020304" pitchFamily="18" charset="-34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C0B1D-70DF-F283-2B33-D1A8AC8965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84916" y="1262350"/>
                <a:ext cx="6730276" cy="884269"/>
              </a:xfrm>
              <a:blipFill>
                <a:blip r:embed="rId6"/>
                <a:stretch>
                  <a:fillRect l="-188" t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E2417C7-A82F-44F7-A96F-B751F3302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41F7344-9C8B-4289-B22F-5A9BE386F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44D01D-A2CB-4AC9-9D70-A4DC027D1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C5F8455-30D6-1236-2610-F66E921D950B}"/>
              </a:ext>
            </a:extLst>
          </p:cNvPr>
          <p:cNvSpPr/>
          <p:nvPr/>
        </p:nvSpPr>
        <p:spPr>
          <a:xfrm>
            <a:off x="6537051" y="2434063"/>
            <a:ext cx="3683405" cy="4764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halkboard" panose="03050602040202020205" pitchFamily="66" charset="77"/>
              </a:rPr>
              <a:t>DEFINE QUADRATIC FUNCTION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8D8298-F634-F5C8-6742-E76261C53CCA}"/>
              </a:ext>
            </a:extLst>
          </p:cNvPr>
          <p:cNvCxnSpPr>
            <a:cxnSpLocks/>
          </p:cNvCxnSpPr>
          <p:nvPr/>
        </p:nvCxnSpPr>
        <p:spPr>
          <a:xfrm flipH="1">
            <a:off x="6151461" y="2910486"/>
            <a:ext cx="2233326" cy="515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A2F93C-6DF9-396A-D60E-43D2D8123049}"/>
              </a:ext>
            </a:extLst>
          </p:cNvPr>
          <p:cNvCxnSpPr>
            <a:cxnSpLocks/>
          </p:cNvCxnSpPr>
          <p:nvPr/>
        </p:nvCxnSpPr>
        <p:spPr>
          <a:xfrm>
            <a:off x="8417838" y="2910486"/>
            <a:ext cx="2188208" cy="515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524CF35-8FD5-CAAD-753D-C2726872A1EE}"/>
              </a:ext>
            </a:extLst>
          </p:cNvPr>
          <p:cNvSpPr/>
          <p:nvPr/>
        </p:nvSpPr>
        <p:spPr>
          <a:xfrm>
            <a:off x="4878777" y="3451073"/>
            <a:ext cx="2785766" cy="4847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halkboard" panose="03050602040202020205" pitchFamily="66" charset="77"/>
              </a:rPr>
              <a:t>EQUALITY CONSTRAINT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5D1D44-9E4B-78F2-4177-E0ED0EED344B}"/>
              </a:ext>
            </a:extLst>
          </p:cNvPr>
          <p:cNvSpPr/>
          <p:nvPr/>
        </p:nvSpPr>
        <p:spPr>
          <a:xfrm>
            <a:off x="9035565" y="3455032"/>
            <a:ext cx="3016237" cy="4847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halkboard" panose="03050602040202020205" pitchFamily="66" charset="77"/>
              </a:rPr>
              <a:t>INEQUALITY CONSTRAINT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DE6FE0-D96C-D446-C4FE-6B4342F3706E}"/>
              </a:ext>
            </a:extLst>
          </p:cNvPr>
          <p:cNvSpPr/>
          <p:nvPr/>
        </p:nvSpPr>
        <p:spPr>
          <a:xfrm>
            <a:off x="6930224" y="4353686"/>
            <a:ext cx="2785766" cy="5153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halkboard" panose="03050602040202020205" pitchFamily="66" charset="77"/>
              </a:rPr>
              <a:t>OPTIMIZATION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3672409-02F0-10FC-0654-6412D8840535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7664543" y="3693444"/>
            <a:ext cx="1371022" cy="39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3C3E23A-21F3-1182-21F4-1088C0E68BE5}"/>
              </a:ext>
            </a:extLst>
          </p:cNvPr>
          <p:cNvCxnSpPr>
            <a:cxnSpLocks/>
          </p:cNvCxnSpPr>
          <p:nvPr/>
        </p:nvCxnSpPr>
        <p:spPr>
          <a:xfrm>
            <a:off x="8323107" y="3707968"/>
            <a:ext cx="0" cy="615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342BADC-6E81-AD53-9F50-53F9424EB9F2}"/>
              </a:ext>
            </a:extLst>
          </p:cNvPr>
          <p:cNvCxnSpPr>
            <a:stCxn id="28" idx="2"/>
          </p:cNvCxnSpPr>
          <p:nvPr/>
        </p:nvCxnSpPr>
        <p:spPr>
          <a:xfrm flipH="1">
            <a:off x="8312090" y="4869040"/>
            <a:ext cx="11017" cy="62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5C28FC0-08FA-B3C5-E14F-C600A73BFD85}"/>
              </a:ext>
            </a:extLst>
          </p:cNvPr>
          <p:cNvSpPr/>
          <p:nvPr/>
        </p:nvSpPr>
        <p:spPr>
          <a:xfrm>
            <a:off x="7497591" y="5525323"/>
            <a:ext cx="1628998" cy="757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halkboard" panose="03050602040202020205" pitchFamily="66" charset="77"/>
              </a:rPr>
              <a:t>OUTPUT</a:t>
            </a:r>
          </a:p>
        </p:txBody>
      </p:sp>
      <p:pic>
        <p:nvPicPr>
          <p:cNvPr id="41" name="Picture 2" descr="IISER Bhopal">
            <a:extLst>
              <a:ext uri="{FF2B5EF4-FFF2-40B4-BE49-F238E27FC236}">
                <a16:creationId xmlns:a16="http://schemas.microsoft.com/office/drawing/2014/main" id="{9B5ABF2C-00F7-76F7-8F82-B1B8A97FD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676" y="5909172"/>
            <a:ext cx="1847296" cy="98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47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E75F1-6298-C9D1-9C3B-E920F9F0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4C6A80A-C3F4-48DE-80ED-845C8B3E1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DFAC5-AB99-1ECD-8CA6-F7ADF354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524" y="-190329"/>
            <a:ext cx="7781320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N" sz="2800" dirty="0">
                <a:latin typeface="Chalkboard" panose="03050602040202020205" pitchFamily="66" charset="77"/>
              </a:rPr>
              <a:t>Impact of Different Polytropic Index </a:t>
            </a:r>
            <a:endParaRPr lang="en-US" sz="2800" dirty="0">
              <a:latin typeface="Chalkboard" panose="03050602040202020205" pitchFamily="66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E3F8BD-6BD6-669D-648E-10BB1C564D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8" t="699" b="50000"/>
          <a:stretch/>
        </p:blipFill>
        <p:spPr>
          <a:xfrm>
            <a:off x="32560" y="1061873"/>
            <a:ext cx="4489806" cy="17694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6CF37F-6C63-7204-A305-85F74D58B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15" y="3428999"/>
            <a:ext cx="3313696" cy="254326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BDDE-03E9-D70B-5657-94B463DF2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047" y="927663"/>
            <a:ext cx="7382407" cy="3050552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If we change the Gamma value of Quark, </a:t>
            </a:r>
            <a:r>
              <a:rPr lang="en-US" sz="28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Polytrope</a:t>
            </a:r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 changes so does the </a:t>
            </a:r>
            <a:r>
              <a:rPr lang="en-US" sz="28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EoS</a:t>
            </a:r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, Gamma Quark is ranging from 2.5 to 3.5 .</a:t>
            </a:r>
          </a:p>
          <a:p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Now if we find the maximum interpolation for these different </a:t>
            </a:r>
            <a:r>
              <a:rPr lang="en-US" sz="28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EoS</a:t>
            </a:r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, we get the respective additional pressure terms.</a:t>
            </a:r>
          </a:p>
          <a:p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In the figure we can see that if we keep on increasing the </a:t>
            </a:r>
            <a:r>
              <a:rPr lang="en-US" sz="28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polytrope</a:t>
            </a:r>
            <a:r>
              <a:rPr lang="en-US" sz="2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 index of quark the additional pressure term will keep on decreasing following a trendline.</a:t>
            </a:r>
            <a:endParaRPr lang="en-US" sz="1800" dirty="0">
              <a:latin typeface="Angsana New" panose="02020603050405020304" pitchFamily="18" charset="-34"/>
              <a:ea typeface="Baskerville" panose="02020502070401020303" pitchFamily="18" charset="0"/>
              <a:cs typeface="Angsana New" panose="02020603050405020304" pitchFamily="18" charset="-34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E2417C7-A82F-44F7-A96F-B751F3302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41F7344-9C8B-4289-B22F-5A9BE386F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D44D01D-A2CB-4AC9-9D70-A4DC027D1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F2DB35A-854C-A714-6055-BCAB8973FEF0}"/>
              </a:ext>
            </a:extLst>
          </p:cNvPr>
          <p:cNvSpPr txBox="1"/>
          <p:nvPr/>
        </p:nvSpPr>
        <p:spPr>
          <a:xfrm>
            <a:off x="4740524" y="3832942"/>
            <a:ext cx="683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halkboard" panose="03050602040202020205" pitchFamily="66" charset="77"/>
              </a:rPr>
              <a:t>Future Work 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5CD91-231C-C405-C9EB-C6155CD466A1}"/>
              </a:ext>
            </a:extLst>
          </p:cNvPr>
          <p:cNvSpPr txBox="1"/>
          <p:nvPr/>
        </p:nvSpPr>
        <p:spPr>
          <a:xfrm>
            <a:off x="4900046" y="4294607"/>
            <a:ext cx="71744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We want to change the transition point </a:t>
            </a:r>
            <a:r>
              <a:rPr lang="en-US" sz="24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i.e</a:t>
            </a:r>
            <a:r>
              <a:rPr lang="en-US" sz="24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, Pressure and Chemical Potential at critical point, where the transition happens, and observe how the additional pressure changes with respect to these </a:t>
            </a:r>
            <a:r>
              <a:rPr lang="en-US" sz="2400" dirty="0" err="1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EoS</a:t>
            </a:r>
            <a:r>
              <a:rPr lang="en-US" sz="24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Also match these results with the observational results of Neutron Stars.</a:t>
            </a:r>
          </a:p>
          <a:p>
            <a:endParaRPr lang="en-US" sz="2400" dirty="0">
              <a:latin typeface="Angsana New" panose="02020603050405020304" pitchFamily="18" charset="-34"/>
              <a:ea typeface="Baskerville" panose="02020502070401020303" pitchFamily="18" charset="0"/>
              <a:cs typeface="Angsana New" panose="02020603050405020304" pitchFamily="18" charset="-34"/>
            </a:endParaRPr>
          </a:p>
        </p:txBody>
      </p:sp>
      <p:pic>
        <p:nvPicPr>
          <p:cNvPr id="12" name="Picture 2" descr="IISER Bhopal">
            <a:extLst>
              <a:ext uri="{FF2B5EF4-FFF2-40B4-BE49-F238E27FC236}">
                <a16:creationId xmlns:a16="http://schemas.microsoft.com/office/drawing/2014/main" id="{89D5BD28-8E5B-DA2C-CCEC-603C042B5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676" y="5909172"/>
            <a:ext cx="1847296" cy="98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8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8AB81B-E7E5-87F8-D42F-70BE5B144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 dirty="0">
                <a:solidFill>
                  <a:srgbClr val="FFFFFF"/>
                </a:solidFill>
                <a:latin typeface="Chalkboard" panose="03050602040202020205" pitchFamily="66" charset="77"/>
              </a:rPr>
              <a:t>References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494AB-BF3C-8068-F621-763CE0346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en-IN" sz="1400" dirty="0">
                <a:effectLst/>
                <a:latin typeface="Helvetica" pitchFamily="2" charset="0"/>
              </a:rPr>
              <a:t>[1] V. </a:t>
            </a:r>
            <a:r>
              <a:rPr lang="en-IN" sz="1400" dirty="0" err="1">
                <a:effectLst/>
                <a:latin typeface="Helvetica" pitchFamily="2" charset="0"/>
              </a:rPr>
              <a:t>Abgaryan</a:t>
            </a:r>
            <a:r>
              <a:rPr lang="en-IN" sz="1400" dirty="0">
                <a:effectLst/>
                <a:latin typeface="Helvetica" pitchFamily="2" charset="0"/>
              </a:rPr>
              <a:t>, D. Alvarez-Castillo, A. </a:t>
            </a:r>
            <a:r>
              <a:rPr lang="en-IN" sz="1400" dirty="0" err="1">
                <a:effectLst/>
                <a:latin typeface="Helvetica" pitchFamily="2" charset="0"/>
              </a:rPr>
              <a:t>Ayriyan,D</a:t>
            </a:r>
            <a:r>
              <a:rPr lang="en-IN" sz="1400" dirty="0">
                <a:effectLst/>
                <a:latin typeface="Helvetica" pitchFamily="2" charset="0"/>
              </a:rPr>
              <a:t>. Blaschke, and H. Grigorian, Universe 4, 94 (2018).</a:t>
            </a:r>
          </a:p>
          <a:p>
            <a:r>
              <a:rPr lang="en-IN" sz="1400" dirty="0">
                <a:effectLst/>
                <a:latin typeface="Helvetica" pitchFamily="2" charset="0"/>
              </a:rPr>
              <a:t>[2] A. </a:t>
            </a:r>
            <a:r>
              <a:rPr lang="en-IN" sz="1400" dirty="0" err="1">
                <a:effectLst/>
                <a:latin typeface="Helvetica" pitchFamily="2" charset="0"/>
              </a:rPr>
              <a:t>Ayriyan</a:t>
            </a:r>
            <a:r>
              <a:rPr lang="en-IN" sz="1400" dirty="0">
                <a:effectLst/>
                <a:latin typeface="Helvetica" pitchFamily="2" charset="0"/>
              </a:rPr>
              <a:t> and H. Grigorian, EPJ Web of Conferences173, 03003 (2018).</a:t>
            </a:r>
          </a:p>
          <a:p>
            <a:r>
              <a:rPr lang="en-IN" sz="1400" dirty="0">
                <a:effectLst/>
                <a:latin typeface="Helvetica" pitchFamily="2" charset="0"/>
              </a:rPr>
              <a:t>[3] F. Weber, M. </a:t>
            </a:r>
            <a:r>
              <a:rPr lang="en-IN" sz="1400" dirty="0" err="1">
                <a:effectLst/>
                <a:latin typeface="Helvetica" pitchFamily="2" charset="0"/>
              </a:rPr>
              <a:t>Orsaria</a:t>
            </a:r>
            <a:r>
              <a:rPr lang="en-IN" sz="1400" dirty="0">
                <a:effectLst/>
                <a:latin typeface="Helvetica" pitchFamily="2" charset="0"/>
              </a:rPr>
              <a:t>, H. Rodrigues, and S.-H. </a:t>
            </a:r>
            <a:r>
              <a:rPr lang="en-IN" sz="1400" dirty="0" err="1">
                <a:effectLst/>
                <a:latin typeface="Helvetica" pitchFamily="2" charset="0"/>
              </a:rPr>
              <a:t>Yang,Proceedings</a:t>
            </a:r>
            <a:r>
              <a:rPr lang="en-IN" sz="1400" dirty="0">
                <a:effectLst/>
                <a:latin typeface="Helvetica" pitchFamily="2" charset="0"/>
              </a:rPr>
              <a:t> of the International Astronomical Union 8,61–66 (2012).</a:t>
            </a:r>
          </a:p>
          <a:p>
            <a:r>
              <a:rPr lang="en-IN" sz="1400" dirty="0">
                <a:effectLst/>
                <a:latin typeface="Helvetica" pitchFamily="2" charset="0"/>
              </a:rPr>
              <a:t>[4] G. Watanabe and T. Maruyama, Nuclear pasta in</a:t>
            </a:r>
          </a:p>
          <a:p>
            <a:r>
              <a:rPr lang="en-IN" sz="1400" dirty="0">
                <a:effectLst/>
                <a:latin typeface="Helvetica" pitchFamily="2" charset="0"/>
              </a:rPr>
              <a:t>supernovae and neutron stars (2012), arXiv:1109.3511</a:t>
            </a:r>
          </a:p>
          <a:p>
            <a:r>
              <a:rPr lang="en-IN" sz="1400" dirty="0">
                <a:effectLst/>
                <a:latin typeface="Helvetica" pitchFamily="2" charset="0"/>
              </a:rPr>
              <a:t>[</a:t>
            </a:r>
            <a:r>
              <a:rPr lang="en-IN" sz="1400" dirty="0" err="1">
                <a:effectLst/>
                <a:latin typeface="Helvetica" pitchFamily="2" charset="0"/>
              </a:rPr>
              <a:t>nucl-th</a:t>
            </a:r>
            <a:r>
              <a:rPr lang="en-IN" sz="1400" dirty="0">
                <a:effectLst/>
                <a:latin typeface="Helvetica" pitchFamily="2" charset="0"/>
              </a:rPr>
              <a:t>].</a:t>
            </a:r>
          </a:p>
          <a:p>
            <a:r>
              <a:rPr lang="en-IN" sz="1400" dirty="0">
                <a:effectLst/>
                <a:latin typeface="Helvetica" pitchFamily="2" charset="0"/>
              </a:rPr>
              <a:t>[5] Z. F. </a:t>
            </a:r>
            <a:r>
              <a:rPr lang="en-IN" sz="1400" dirty="0" err="1">
                <a:effectLst/>
                <a:latin typeface="Helvetica" pitchFamily="2" charset="0"/>
              </a:rPr>
              <a:t>Seidov</a:t>
            </a:r>
            <a:r>
              <a:rPr lang="en-IN" sz="1400" dirty="0">
                <a:effectLst/>
                <a:latin typeface="Helvetica" pitchFamily="2" charset="0"/>
              </a:rPr>
              <a:t>, Soviet Astronomy 15, 347 (1971).</a:t>
            </a:r>
          </a:p>
          <a:p>
            <a:r>
              <a:rPr lang="en-IN" sz="1400" dirty="0">
                <a:effectLst/>
                <a:latin typeface="Helvetica" pitchFamily="2" charset="0"/>
              </a:rPr>
              <a:t>[6] D. E. Alvarez-Castillo and D. B. Blaschke, Physical</a:t>
            </a:r>
          </a:p>
          <a:p>
            <a:r>
              <a:rPr lang="en-IN" sz="1400" dirty="0">
                <a:effectLst/>
                <a:latin typeface="Helvetica" pitchFamily="2" charset="0"/>
              </a:rPr>
              <a:t>Review C 96, 10.1103/physrevc.96.045809 (2017).</a:t>
            </a:r>
          </a:p>
          <a:p>
            <a:r>
              <a:rPr lang="en-IN" sz="1400" dirty="0">
                <a:effectLst/>
                <a:latin typeface="Helvetica" pitchFamily="2" charset="0"/>
              </a:rPr>
              <a:t>[7] S. . Contributors, Nature Methods 17, 261 (2020).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20257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6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6E429-CDF2-F80A-D9D7-0E5EF77F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4783" y="1246432"/>
            <a:ext cx="9966960" cy="303580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10" name="Picture 2" descr="IISER Bhopal">
            <a:extLst>
              <a:ext uri="{FF2B5EF4-FFF2-40B4-BE49-F238E27FC236}">
                <a16:creationId xmlns:a16="http://schemas.microsoft.com/office/drawing/2014/main" id="{F996302F-9452-8083-5D28-97AD64A94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146" y="4713545"/>
            <a:ext cx="3447386" cy="183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90A1DA-7AE2-CFA4-1B3D-7A9E0F016608}"/>
              </a:ext>
            </a:extLst>
          </p:cNvPr>
          <p:cNvSpPr txBox="1"/>
          <p:nvPr/>
        </p:nvSpPr>
        <p:spPr>
          <a:xfrm>
            <a:off x="9099933" y="6293694"/>
            <a:ext cx="64108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radley Hand" pitchFamily="2" charset="77"/>
              </a:rPr>
              <a:t>Department of Physics</a:t>
            </a:r>
          </a:p>
        </p:txBody>
      </p:sp>
    </p:spTree>
    <p:extLst>
      <p:ext uri="{BB962C8B-B14F-4D97-AF65-F5344CB8AC3E}">
        <p14:creationId xmlns:p14="http://schemas.microsoft.com/office/powerpoint/2010/main" val="355494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4492</TotalTime>
  <Words>572</Words>
  <Application>Microsoft Macintosh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2" baseType="lpstr">
      <vt:lpstr>AkayaKanadaka</vt:lpstr>
      <vt:lpstr>Angsana New</vt:lpstr>
      <vt:lpstr>Aptos</vt:lpstr>
      <vt:lpstr>Arial</vt:lpstr>
      <vt:lpstr>Bradley Hand</vt:lpstr>
      <vt:lpstr>Calibri</vt:lpstr>
      <vt:lpstr>Cambria Math</vt:lpstr>
      <vt:lpstr>Chalkboard</vt:lpstr>
      <vt:lpstr>Helvetica</vt:lpstr>
      <vt:lpstr>Rockwell</vt:lpstr>
      <vt:lpstr>Rockwell Condensed</vt:lpstr>
      <vt:lpstr>Rockwell Extra Bold</vt:lpstr>
      <vt:lpstr>Times New Roman</vt:lpstr>
      <vt:lpstr>Wingdings</vt:lpstr>
      <vt:lpstr>Wood Type</vt:lpstr>
      <vt:lpstr>Investigating Max Pressure Jump in Mixed Phase</vt:lpstr>
      <vt:lpstr>Introduction</vt:lpstr>
      <vt:lpstr>Quadratic interpolation</vt:lpstr>
      <vt:lpstr>MAXIMUM INTERPOLATION ACHIEVABLE</vt:lpstr>
      <vt:lpstr>Impact of Different Polytropic Index 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Katta Naveen</dc:creator>
  <cp:lastModifiedBy>Katta Naveen</cp:lastModifiedBy>
  <cp:revision>7</cp:revision>
  <dcterms:created xsi:type="dcterms:W3CDTF">2024-11-08T21:45:30Z</dcterms:created>
  <dcterms:modified xsi:type="dcterms:W3CDTF">2024-11-13T07:15:17Z</dcterms:modified>
</cp:coreProperties>
</file>