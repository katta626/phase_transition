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6"/>
    <p:restoredTop sz="94625"/>
  </p:normalViewPr>
  <p:slideViewPr>
    <p:cSldViewPr snapToGrid="0">
      <p:cViewPr varScale="1">
        <p:scale>
          <a:sx n="116" d="100"/>
          <a:sy n="116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1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2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1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0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7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7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4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9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4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1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3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AF1DF6-F7E0-764E-B372-8F131C591791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7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BFD69-539F-F9B6-A914-16F57CF9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43468"/>
            <a:ext cx="9966960" cy="35924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Chalkboard" panose="03050602040202020205" pitchFamily="66" charset="77"/>
              </a:rPr>
              <a:t>Investigating Max Pressure Jump in Mixed Phase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Picture 2" descr="IISER Bhopal">
            <a:extLst>
              <a:ext uri="{FF2B5EF4-FFF2-40B4-BE49-F238E27FC236}">
                <a16:creationId xmlns:a16="http://schemas.microsoft.com/office/drawing/2014/main" id="{B4B1859B-43FA-97D0-6C81-393D62067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747" y="4853956"/>
            <a:ext cx="3076590" cy="163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7F08B3-C3F5-6131-2E2D-D55EAF3A1D89}"/>
              </a:ext>
            </a:extLst>
          </p:cNvPr>
          <p:cNvSpPr txBox="1"/>
          <p:nvPr/>
        </p:nvSpPr>
        <p:spPr>
          <a:xfrm>
            <a:off x="1343819" y="4896420"/>
            <a:ext cx="5410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kayaKanadaka" panose="02010502080401010103" pitchFamily="2" charset="77"/>
                <a:cs typeface="AkayaKanadaka" panose="02010502080401010103" pitchFamily="2" charset="77"/>
              </a:rPr>
              <a:t>Katta Naveen</a:t>
            </a:r>
          </a:p>
          <a:p>
            <a:endParaRPr lang="en-US" dirty="0"/>
          </a:p>
          <a:p>
            <a:r>
              <a:rPr lang="en-US" dirty="0"/>
              <a:t>Supervisor : Dr .</a:t>
            </a:r>
            <a:r>
              <a:rPr lang="en-IN" sz="1800" b="1" i="0" u="none" strike="noStrike" dirty="0" err="1">
                <a:solidFill>
                  <a:srgbClr val="212121"/>
                </a:solidFill>
                <a:effectLst/>
                <a:latin typeface="AkayaKanadaka" panose="02010502080401010103" pitchFamily="2" charset="77"/>
                <a:cs typeface="AkayaKanadaka" panose="02010502080401010103" pitchFamily="2" charset="77"/>
              </a:rPr>
              <a:t>Ritam</a:t>
            </a:r>
            <a:r>
              <a:rPr lang="en-IN" sz="1800" b="1" i="0" u="none" strike="noStrike" dirty="0">
                <a:solidFill>
                  <a:srgbClr val="212121"/>
                </a:solidFill>
                <a:effectLst/>
                <a:latin typeface="AkayaKanadaka" panose="02010502080401010103" pitchFamily="2" charset="77"/>
                <a:cs typeface="AkayaKanadaka" panose="02010502080401010103" pitchFamily="2" charset="77"/>
              </a:rPr>
              <a:t> Mallick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51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70A57-B2A1-E895-3D8F-E193B5493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halkboard" panose="03050602040202020205" pitchFamily="66" charset="77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F31DA-5C40-5D26-6B61-192D65590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464308"/>
            <a:ext cx="10058400" cy="38517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investigate the phase transition between hadronic to quark matter in the core of neutron stars by using a quadratic interpolation method.</a:t>
            </a:r>
          </a:p>
          <a:p>
            <a:endParaRPr lang="en-US" dirty="0"/>
          </a:p>
          <a:p>
            <a:r>
              <a:rPr lang="en-US" dirty="0"/>
              <a:t>By implementing a piecewise polytropic equation of state (EOS) for the hadronic and quark phases, we create a smooth transition across the mixed phase.</a:t>
            </a:r>
          </a:p>
          <a:p>
            <a:endParaRPr lang="en-US" dirty="0"/>
          </a:p>
          <a:p>
            <a:r>
              <a:rPr lang="en-US" dirty="0"/>
              <a:t>We are trying to learn how the smoothness of the transition behaves if we keep on changing the </a:t>
            </a:r>
            <a:r>
              <a:rPr lang="en-US" dirty="0" err="1"/>
              <a:t>EoS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And finally for a any given </a:t>
            </a:r>
            <a:r>
              <a:rPr lang="en-US" dirty="0" err="1"/>
              <a:t>EoS</a:t>
            </a:r>
            <a:r>
              <a:rPr lang="en-US" dirty="0"/>
              <a:t> can we determine the maximum smoothness of the mixed phase.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IISER Bhopal">
            <a:extLst>
              <a:ext uri="{FF2B5EF4-FFF2-40B4-BE49-F238E27FC236}">
                <a16:creationId xmlns:a16="http://schemas.microsoft.com/office/drawing/2014/main" id="{90551CBE-CC3D-B6B3-5FA3-CE2BB443A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096" y="5771293"/>
            <a:ext cx="2266455" cy="120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08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39F839-BE01-3A3E-70B2-8F0F1CE93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9" r="3" b="3"/>
          <a:stretch/>
        </p:blipFill>
        <p:spPr>
          <a:xfrm>
            <a:off x="0" y="120025"/>
            <a:ext cx="4559011" cy="34113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1BB01C-2DAE-48BD-8E81-DAE2E1BC4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64A66-F46A-5985-5520-D45108A1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8" y="200473"/>
            <a:ext cx="6730277" cy="1261463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Chalkboard" panose="03050602040202020205" pitchFamily="66" charset="77"/>
              </a:rPr>
              <a:t>Constructing E</a:t>
            </a:r>
            <a:r>
              <a:rPr lang="en-US" sz="3600" dirty="0">
                <a:latin typeface="Chalkboard" panose="03050602040202020205" pitchFamily="66" charset="77"/>
              </a:rPr>
              <a:t>0</a:t>
            </a:r>
            <a:r>
              <a:rPr lang="en-US" sz="4800" dirty="0">
                <a:latin typeface="Chalkboard" panose="03050602040202020205" pitchFamily="66" charset="77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E0DB4-AB74-83EB-D7E4-16ED2EF4B8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45" r="1" b="1"/>
          <a:stretch/>
        </p:blipFill>
        <p:spPr>
          <a:xfrm>
            <a:off x="-41484" y="3482125"/>
            <a:ext cx="4475150" cy="33485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3BB3E-48A6-2462-939A-44F4CFA63E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6530" y="1389458"/>
                <a:ext cx="7094512" cy="4669105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We construct </a:t>
                </a:r>
                <a:r>
                  <a:rPr lang="en-US" sz="2800" dirty="0" err="1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EoS</a:t>
                </a:r>
                <a:r>
                  <a:rPr lang="en-US" sz="2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 using </a:t>
                </a:r>
                <a:r>
                  <a:rPr lang="en-IN" sz="2800" u="none" strike="noStrike" dirty="0">
                    <a:solidFill>
                      <a:srgbClr val="000000"/>
                    </a:solidFill>
                    <a:effectLst/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Piecewise </a:t>
                </a:r>
                <a:r>
                  <a:rPr lang="en-IN" sz="2800" u="none" strike="noStrike" dirty="0" err="1">
                    <a:solidFill>
                      <a:srgbClr val="000000"/>
                    </a:solidFill>
                    <a:effectLst/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Polytropes</a:t>
                </a:r>
                <a:r>
                  <a:rPr lang="en-IN" sz="2800" u="none" strike="noStrike" dirty="0">
                    <a:solidFill>
                      <a:srgbClr val="000000"/>
                    </a:solidFill>
                    <a:effectLst/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.</a:t>
                </a:r>
              </a:p>
              <a:p>
                <a:r>
                  <a:rPr lang="en-IN" sz="2400" u="none" strike="noStrike" dirty="0" err="1">
                    <a:solidFill>
                      <a:srgbClr val="00000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EoS</a:t>
                </a:r>
                <a:r>
                  <a:rPr lang="en-IN" sz="2400" u="none" strike="noStrike" dirty="0">
                    <a:solidFill>
                      <a:srgbClr val="00000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is divided into segments, each with its own polytropic index (</a:t>
                </a:r>
                <a:r>
                  <a:rPr lang="en-US" sz="2400" dirty="0">
                    <a:solidFill>
                      <a:srgbClr val="0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Gamma)</a:t>
                </a:r>
                <a:r>
                  <a:rPr lang="el-GR" sz="2400" u="none" strike="noStrike" dirty="0">
                    <a:solidFill>
                      <a:srgbClr val="000000"/>
                    </a:solidFill>
                    <a:effectLst/>
                    <a:latin typeface="-webkit-standard"/>
                    <a:cs typeface="Angsana New" panose="02020603050405020304" pitchFamily="18" charset="-34"/>
                  </a:rPr>
                  <a:t> </a:t>
                </a:r>
                <a:r>
                  <a:rPr lang="en-IN" sz="2400" u="none" strike="noStrike" dirty="0">
                    <a:solidFill>
                      <a:srgbClr val="00000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and number densities</a:t>
                </a:r>
                <a:r>
                  <a:rPr lang="en-US" sz="2400" dirty="0">
                    <a:solidFill>
                      <a:srgbClr val="0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, describing </a:t>
                </a:r>
                <a:r>
                  <a:rPr lang="en-IN" sz="2400" u="none" strike="noStrike" dirty="0">
                    <a:solidFill>
                      <a:srgbClr val="00000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distinct phases (hadronic, quark).</a:t>
                </a:r>
              </a:p>
              <a:p>
                <a:endParaRPr lang="en-IN" sz="2400" u="none" strike="noStrike" dirty="0">
                  <a:solidFill>
                    <a:srgbClr val="00000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en-US" sz="2800" dirty="0">
                  <a:latin typeface="Angsana New" panose="02020603050405020304" pitchFamily="18" charset="-34"/>
                  <a:ea typeface="Baskerville" panose="02020502070401020303" pitchFamily="18" charset="0"/>
                  <a:cs typeface="Angsana New" panose="02020603050405020304" pitchFamily="18" charset="-34"/>
                </a:endParaRPr>
              </a:p>
              <a:p>
                <a:endParaRPr lang="en-US" sz="2800" dirty="0">
                  <a:latin typeface="Angsana New" panose="02020603050405020304" pitchFamily="18" charset="-34"/>
                  <a:ea typeface="Baskerville" panose="02020502070401020303" pitchFamily="18" charset="0"/>
                  <a:cs typeface="Angsana New" panose="02020603050405020304" pitchFamily="18" charset="-34"/>
                </a:endParaRPr>
              </a:p>
              <a:p>
                <a14:m>
                  <m:oMath xmlns:m="http://schemas.openxmlformats.org/officeDocument/2006/math">
                    <m:r>
                      <a:rPr lang="en-IN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ε</m:t>
                                </m:r>
                                <m:d>
                                  <m:d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𝑑𝑛</m:t>
                        </m:r>
                      </m:den>
                    </m:f>
                  </m:oMath>
                </a14:m>
                <a:r>
                  <a:rPr lang="en-IN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ε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𝑑𝑛</m:t>
                        </m:r>
                      </m:e>
                    </m:nary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𝑑𝑛</m:t>
                        </m:r>
                      </m:e>
                    </m:nary>
                    <m:r>
                      <a:rPr lang="en-IN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κ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κ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IN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μ</m:t>
                    </m:r>
                    <m:d>
                      <m:d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ε</m:t>
                        </m:r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κΓ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IN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Angsana New" panose="02020603050405020304" pitchFamily="18" charset="-34"/>
                  <a:ea typeface="Baskerville" panose="02020502070401020303" pitchFamily="18" charset="0"/>
                  <a:cs typeface="Angsana New" panose="02020603050405020304" pitchFamily="18" charset="-3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3BB3E-48A6-2462-939A-44F4CFA63E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6530" y="1389458"/>
                <a:ext cx="7094512" cy="4669105"/>
              </a:xfrm>
              <a:blipFill>
                <a:blip r:embed="rId6"/>
                <a:stretch>
                  <a:fillRect l="-1071" t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D55FF18-1979-4730-A345-E74E328F0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8381C4-0751-4A6E-BFF7-48DF67BFA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7320C1D-D7A9-4392-B3B6-ACEF193A8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FE28987-DDF7-9308-A33F-DDA2616AB6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851393"/>
            <a:ext cx="3525461" cy="1261464"/>
          </a:xfrm>
          <a:prstGeom prst="rect">
            <a:avLst/>
          </a:prstGeom>
        </p:spPr>
      </p:pic>
      <p:pic>
        <p:nvPicPr>
          <p:cNvPr id="12" name="Picture 2" descr="IISER Bhopal">
            <a:extLst>
              <a:ext uri="{FF2B5EF4-FFF2-40B4-BE49-F238E27FC236}">
                <a16:creationId xmlns:a16="http://schemas.microsoft.com/office/drawing/2014/main" id="{C3080AF2-45D3-E7A1-1F2D-EF351467A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096" y="5771293"/>
            <a:ext cx="2266455" cy="120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40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1F564-F197-21D0-A391-DE71CA60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5697405-D261-4D6B-8E15-0FF5AE9DD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73C2C-7E34-EC54-6045-E0337517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59" y="340946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Chalkboard" panose="03050602040202020205" pitchFamily="66" charset="77"/>
              </a:rPr>
              <a:t>Quadratic 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D4AC6-6359-B0C1-B296-44C09D9DE3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70109" y="2121408"/>
                <a:ext cx="6730276" cy="405079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We  consider quadratic form of the mixed phase around a pressure point,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</m:d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α</m:t>
                    </m:r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β</m:t>
                    </m:r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IN" sz="1800" kern="100" dirty="0">
                    <a:latin typeface="Aptos" panose="020B0004020202020204" pitchFamily="34" charset="0"/>
                    <a:ea typeface="Baskerville" panose="02020502070401020303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r>
                  <a:rPr lang="en-IN" sz="1800" kern="100" dirty="0">
                    <a:latin typeface="Aptos" panose="020B0004020202020204" pitchFamily="34" charset="0"/>
                    <a:ea typeface="Baskerville" panose="02020502070401020303" pitchFamily="18" charset="0"/>
                    <a:cs typeface="Times New Roman" panose="02020603050405020304" pitchFamily="18" charset="0"/>
                  </a:rPr>
                  <a:t>We can find the alpha and beta from the below equations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α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N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𝑐𝑄</m:t>
                            </m:r>
                          </m:sub>
                        </m:s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𝑐𝐻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IN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𝑐𝑄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𝑐𝑄</m:t>
                                </m:r>
                              </m:sub>
                            </m:s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𝑐𝐻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𝑐𝐻</m:t>
                                </m:r>
                              </m:sub>
                            </m:s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IN" sz="2400" dirty="0">
                    <a:effectLst/>
                  </a:rPr>
                  <a:t> </a:t>
                </a:r>
                <a:endParaRPr lang="en-IN" sz="1800" kern="100" dirty="0">
                  <a:effectLst/>
                  <a:latin typeface="Aptos" panose="020B0004020202020204" pitchFamily="34" charset="0"/>
                  <a:ea typeface="Baskerville" panose="02020502070401020303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β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sub>
                        </m:sSub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𝑐𝐻</m:t>
                                </m:r>
                              </m:sub>
                            </m:sSub>
                          </m:e>
                        </m:d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𝑐𝐻</m:t>
                            </m:r>
                          </m:sub>
                        </m:s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sub>
                        </m:sSub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𝑐𝑄</m:t>
                                </m:r>
                              </m:sub>
                            </m:sSub>
                          </m:e>
                        </m:d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𝑐𝑄</m:t>
                            </m:r>
                          </m:sub>
                        </m:s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sub>
                        </m:sSub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𝑐𝑄</m:t>
                                </m:r>
                              </m:sub>
                            </m:sSub>
                          </m:e>
                        </m:d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sub>
                        </m:sSub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𝑐𝐻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𝑐𝑄</m:t>
                            </m:r>
                          </m:sub>
                        </m:s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𝑐𝐻</m:t>
                            </m:r>
                          </m:sub>
                        </m:sSub>
                      </m:den>
                    </m:f>
                  </m:oMath>
                </a14:m>
                <a:endParaRPr lang="en-IN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𝑐𝐻</m:t>
                        </m:r>
                      </m:sub>
                    </m:sSub>
                  </m:oMath>
                </a14:m>
                <a:r>
                  <a:rPr lang="en-IN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𝑐𝑄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  <m:e/>
                        </m:eqArr>
                      </m:sub>
                    </m:sSub>
                  </m:oMath>
                </a14:m>
                <a:endParaRPr lang="en-US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en-IN" sz="2800" kern="100" dirty="0">
                    <a:effectLst/>
                    <a:latin typeface="Angsana New" panose="02020603050405020304" pitchFamily="18" charset="-34"/>
                    <a:ea typeface="Aptos" panose="020B0004020202020204" pitchFamily="34" charset="0"/>
                    <a:cs typeface="Angsana New" panose="02020603050405020304" pitchFamily="18" charset="-34"/>
                  </a:rPr>
                  <a:t>Are the respective chemical potential where transition occurs in the mixed phase.</a:t>
                </a:r>
              </a:p>
              <a:p>
                <a:pPr algn="ctr"/>
                <a:endParaRPr lang="en-US" sz="2800" dirty="0">
                  <a:latin typeface="Angsana New" panose="02020603050405020304" pitchFamily="18" charset="-34"/>
                  <a:ea typeface="Baskerville" panose="02020502070401020303" pitchFamily="18" charset="0"/>
                  <a:cs typeface="Angsana New" panose="02020603050405020304" pitchFamily="18" charset="-3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D4AC6-6359-B0C1-B296-44C09D9DE3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0109" y="2121408"/>
                <a:ext cx="6730276" cy="4050792"/>
              </a:xfrm>
              <a:blipFill>
                <a:blip r:embed="rId4"/>
                <a:stretch>
                  <a:fillRect l="-1130" t="-3438" r="-1695" b="-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9373530-15FD-4390-A707-0FA6DA4D5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3054FEE-E83D-4966-B2E7-594F3F4C0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741C56-588D-4397-A8F3-E84E946E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8DC162E-69EB-A33E-7CF8-BB0E77F3D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615" y="0"/>
            <a:ext cx="3323492" cy="2439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83E902-7717-FFB6-76AF-9B71BC5BA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886" y="2326903"/>
            <a:ext cx="3277221" cy="22041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CD81AB-6D74-8EE5-D1FE-D40BBA2CD2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464" y="4418536"/>
            <a:ext cx="3208064" cy="2439465"/>
          </a:xfrm>
          <a:prstGeom prst="rect">
            <a:avLst/>
          </a:prstGeom>
        </p:spPr>
      </p:pic>
      <p:pic>
        <p:nvPicPr>
          <p:cNvPr id="18" name="Picture 2" descr="IISER Bhopal">
            <a:extLst>
              <a:ext uri="{FF2B5EF4-FFF2-40B4-BE49-F238E27FC236}">
                <a16:creationId xmlns:a16="http://schemas.microsoft.com/office/drawing/2014/main" id="{28F00162-4AC1-E55D-558F-80B455167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096" y="5771293"/>
            <a:ext cx="2266455" cy="120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9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41589-A00D-BE34-D519-F23B8BCC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9A395A46-1819-40A2-AEA7-F0FDA491C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5774268" cy="5780684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6D159-27CB-46A8-3DCD-1F6794C3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93" y="484632"/>
            <a:ext cx="5168168" cy="1609344"/>
          </a:xfrm>
        </p:spPr>
        <p:txBody>
          <a:bodyPr>
            <a:normAutofit/>
          </a:bodyPr>
          <a:lstStyle/>
          <a:p>
            <a:r>
              <a:rPr lang="en-IN" sz="3400">
                <a:latin typeface="Chalkboard" panose="03050602040202020205" pitchFamily="66" charset="77"/>
              </a:rPr>
              <a:t>MAXIMUM INTERPOLATION ACHIEVABLE</a:t>
            </a:r>
            <a:endParaRPr lang="en-US" sz="3400">
              <a:latin typeface="Chalkboard" panose="03050602040202020205" pitchFamily="66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C0B1D-70DF-F283-2B33-D1A8AC896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93" y="2121408"/>
            <a:ext cx="5168168" cy="37596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Now we will keep the initial transition chemical potential to initial chemical potential of hadronic phase. </a:t>
            </a:r>
          </a:p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We develop a model such that it finds the optimal values of alpha and beta for such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EoS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.</a:t>
            </a:r>
          </a:p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Constraints of the Model : Equality constraint and Inequality constraint.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8073F59-0172-425F-9B05-99F9F925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78245" y="321733"/>
            <a:ext cx="2639614" cy="2809908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367BF2E-18B8-45B6-9AE8-D20F15008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103" y="321733"/>
            <a:ext cx="2639614" cy="2809908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48482-5968-BDFF-6C18-82E73EE69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194" y="847583"/>
            <a:ext cx="2313432" cy="1758207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2BF3333D-A3D1-4EF9-9174-C837EDE24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78245" y="3293323"/>
            <a:ext cx="2639614" cy="2809908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EB7B3C-CEAD-F6FA-785E-188311EC7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336" y="3822065"/>
            <a:ext cx="2313432" cy="1752424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C7AA4FB-6CE2-4D5C-8CE7-21E300B7E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103" y="3293323"/>
            <a:ext cx="2639614" cy="2809908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319A5-BAA1-0563-0C13-8602F229A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336" y="847583"/>
            <a:ext cx="2313432" cy="1717723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E4ED421E-D0CF-4B7D-B4F4-C3197B027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02D075B-0C27-429F-A2C1-CDBEC59B5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A3F332B-27F0-4FA4-B1B3-E347DC440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56898F9-6E23-9B23-5FD5-8BD169013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3617" y="3822065"/>
            <a:ext cx="2313432" cy="1758207"/>
          </a:xfrm>
          <a:prstGeom prst="rect">
            <a:avLst/>
          </a:prstGeom>
        </p:spPr>
      </p:pic>
      <p:pic>
        <p:nvPicPr>
          <p:cNvPr id="11" name="Picture 2" descr="IISER Bhopal">
            <a:extLst>
              <a:ext uri="{FF2B5EF4-FFF2-40B4-BE49-F238E27FC236}">
                <a16:creationId xmlns:a16="http://schemas.microsoft.com/office/drawing/2014/main" id="{6789F08F-F06C-BAF1-8597-EB565BEF9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096" y="5771293"/>
            <a:ext cx="2266455" cy="120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47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E75F1-6298-C9D1-9C3B-E920F9F0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4C6A80A-C3F4-48DE-80ED-845C8B3E1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DFAC5-AB99-1ECD-8CA6-F7ADF354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sz="4800">
                <a:latin typeface="Chalkboard" panose="03050602040202020205" pitchFamily="66" charset="77"/>
              </a:rPr>
              <a:t>Impact of Different Polytropic Index </a:t>
            </a:r>
            <a:endParaRPr lang="en-US" sz="4800">
              <a:latin typeface="Chalkboard" panose="03050602040202020205" pitchFamily="66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3F8BD-6BD6-669D-648E-10BB1C564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37" y="375731"/>
            <a:ext cx="4295614" cy="34364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6CF37F-6C63-7204-A305-85F74D58B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39" y="3915020"/>
            <a:ext cx="3313696" cy="25432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BDDE-03E9-D70B-5657-94B463DF2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2121408"/>
            <a:ext cx="6730276" cy="405079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If we change the Gamma value of Quark,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Polytrope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changes so does the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EoS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, Gamma Quark is ranging from 2.5 to 3.5 .</a:t>
            </a:r>
          </a:p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Now if we find the maximum interpolation for these different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EoS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, we get the respective additional pressure terms.</a:t>
            </a:r>
          </a:p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So in the figure we can see that if we keep on increasing the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polytrope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index of quark the additional pressure term is keep on decreasing following a trendline.</a:t>
            </a:r>
            <a:endParaRPr lang="en-US" sz="1800" dirty="0">
              <a:latin typeface="Angsana New" panose="02020603050405020304" pitchFamily="18" charset="-34"/>
              <a:ea typeface="Baskerville" panose="02020502070401020303" pitchFamily="18" charset="0"/>
              <a:cs typeface="Angsana New" panose="02020603050405020304" pitchFamily="18" charset="-34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E2417C7-A82F-44F7-A96F-B751F330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41F7344-9C8B-4289-B22F-5A9BE386F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D44D01D-A2CB-4AC9-9D70-A4DC027D1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" name="Picture 2" descr="IISER Bhopal">
            <a:extLst>
              <a:ext uri="{FF2B5EF4-FFF2-40B4-BE49-F238E27FC236}">
                <a16:creationId xmlns:a16="http://schemas.microsoft.com/office/drawing/2014/main" id="{BC5F3A32-028C-8A84-B590-EA43F093E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096" y="5771293"/>
            <a:ext cx="2266455" cy="120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8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6E429-CDF2-F80A-D9D7-0E5EF77F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699" y="2331720"/>
            <a:ext cx="5943902" cy="227076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chemeClr val="tx1"/>
                </a:solidFill>
                <a:latin typeface="Chalkboard" panose="03050602040202020205" pitchFamily="66" charset="77"/>
              </a:rPr>
              <a:t>Thank you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5821A2D-F010-4C2B-8819-23281D9C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 descr="Smiling Face with No Fill">
            <a:extLst>
              <a:ext uri="{FF2B5EF4-FFF2-40B4-BE49-F238E27FC236}">
                <a16:creationId xmlns:a16="http://schemas.microsoft.com/office/drawing/2014/main" id="{D18A936E-C32F-31E6-61E1-843E4AF75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396" y="1687625"/>
            <a:ext cx="3573675" cy="357367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4A9763-8DAF-E6CF-FB96-0275114CE77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024126" y="2331720"/>
            <a:ext cx="667513" cy="411480"/>
          </a:xfrm>
        </p:spPr>
        <p:txBody>
          <a:bodyPr>
            <a:normAutofit/>
          </a:bodyPr>
          <a:lstStyle/>
          <a:p>
            <a:r>
              <a:rPr lang="en-US" dirty="0"/>
              <a:t>m</a:t>
            </a:r>
          </a:p>
        </p:txBody>
      </p:sp>
      <p:pic>
        <p:nvPicPr>
          <p:cNvPr id="13" name="Picture 2" descr="IISER Bhopal">
            <a:extLst>
              <a:ext uri="{FF2B5EF4-FFF2-40B4-BE49-F238E27FC236}">
                <a16:creationId xmlns:a16="http://schemas.microsoft.com/office/drawing/2014/main" id="{41579CEA-6A34-B950-3B06-312679932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096" y="5771293"/>
            <a:ext cx="2266455" cy="120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940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540F-EF9F-98CB-BB22-D7FC51763E9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024129" y="2075689"/>
            <a:ext cx="45719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1E7014-487F-AE96-39DC-236E26228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18" y="899161"/>
            <a:ext cx="6581635" cy="4968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252AE8-D94D-C58A-A00B-A9E453C77F22}"/>
                  </a:ext>
                </a:extLst>
              </p:cNvPr>
              <p:cNvSpPr txBox="1"/>
              <p:nvPr/>
            </p:nvSpPr>
            <p:spPr>
              <a:xfrm>
                <a:off x="365760" y="391489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252AE8-D94D-C58A-A00B-A9E453C77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914894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186F88-1F7D-13A9-C0A7-8D06489F04EF}"/>
                  </a:ext>
                </a:extLst>
              </p:cNvPr>
              <p:cNvSpPr txBox="1"/>
              <p:nvPr/>
            </p:nvSpPr>
            <p:spPr>
              <a:xfrm>
                <a:off x="655320" y="335280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186F88-1F7D-13A9-C0A7-8D06489F0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" y="3352800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F40788-5C22-0D9D-8103-35214557C395}"/>
                  </a:ext>
                </a:extLst>
              </p:cNvPr>
              <p:cNvSpPr txBox="1"/>
              <p:nvPr/>
            </p:nvSpPr>
            <p:spPr>
              <a:xfrm>
                <a:off x="655320" y="569083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F40788-5C22-0D9D-8103-35214557C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" y="5690830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87B8B8-ACC4-C286-64EE-3E899A2906C4}"/>
                  </a:ext>
                </a:extLst>
              </p:cNvPr>
              <p:cNvSpPr txBox="1"/>
              <p:nvPr/>
            </p:nvSpPr>
            <p:spPr>
              <a:xfrm>
                <a:off x="6035040" y="5707856"/>
                <a:ext cx="6096000" cy="388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𝑐𝑄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87B8B8-ACC4-C286-64EE-3E899A290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0" y="5707856"/>
                <a:ext cx="6096000" cy="388889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E97FDE-97B7-EA82-2700-BC271E62D077}"/>
                  </a:ext>
                </a:extLst>
              </p:cNvPr>
              <p:cNvSpPr txBox="1"/>
              <p:nvPr/>
            </p:nvSpPr>
            <p:spPr>
              <a:xfrm>
                <a:off x="3291838" y="568273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E97FDE-97B7-EA82-2700-BC271E62D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38" y="5682734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365041-0778-21E7-21AC-2A86023F74F9}"/>
                  </a:ext>
                </a:extLst>
              </p:cNvPr>
              <p:cNvSpPr txBox="1"/>
              <p:nvPr/>
            </p:nvSpPr>
            <p:spPr>
              <a:xfrm rot="19602356">
                <a:off x="3705994" y="309372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365041-0778-21E7-21AC-2A86023F7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02356">
                <a:off x="3705994" y="3093721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3C6315B-8776-EB08-F92B-163318CC080F}"/>
              </a:ext>
            </a:extLst>
          </p:cNvPr>
          <p:cNvSpPr txBox="1"/>
          <p:nvPr/>
        </p:nvSpPr>
        <p:spPr>
          <a:xfrm>
            <a:off x="5410200" y="6067256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alkboard" panose="03050602040202020205" pitchFamily="66" charset="77"/>
              </a:rPr>
              <a:t>Chemical Potential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42858A-67CF-E56A-E978-3843A7127CDC}"/>
              </a:ext>
            </a:extLst>
          </p:cNvPr>
          <p:cNvSpPr txBox="1"/>
          <p:nvPr/>
        </p:nvSpPr>
        <p:spPr>
          <a:xfrm rot="16200000">
            <a:off x="1121298" y="2234268"/>
            <a:ext cx="331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alkboard" panose="03050602040202020205" pitchFamily="66" charset="77"/>
              </a:rPr>
              <a:t>Pressure</a:t>
            </a:r>
          </a:p>
        </p:txBody>
      </p:sp>
    </p:spTree>
    <p:extLst>
      <p:ext uri="{BB962C8B-B14F-4D97-AF65-F5344CB8AC3E}">
        <p14:creationId xmlns:p14="http://schemas.microsoft.com/office/powerpoint/2010/main" val="19085041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3599</TotalTime>
  <Words>383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-webkit-standard</vt:lpstr>
      <vt:lpstr>AkayaKanadaka</vt:lpstr>
      <vt:lpstr>Angsana New</vt:lpstr>
      <vt:lpstr>Aptos</vt:lpstr>
      <vt:lpstr>Calibri</vt:lpstr>
      <vt:lpstr>Cambria Math</vt:lpstr>
      <vt:lpstr>Chalkboard</vt:lpstr>
      <vt:lpstr>Rockwell</vt:lpstr>
      <vt:lpstr>Rockwell Condensed</vt:lpstr>
      <vt:lpstr>Rockwell Extra Bold</vt:lpstr>
      <vt:lpstr>Wingdings</vt:lpstr>
      <vt:lpstr>Wood Type</vt:lpstr>
      <vt:lpstr>Investigating Max Pressure Jump in Mixed Phase</vt:lpstr>
      <vt:lpstr>Introduction</vt:lpstr>
      <vt:lpstr>Constructing E0S</vt:lpstr>
      <vt:lpstr>Quadratic interpolation</vt:lpstr>
      <vt:lpstr>MAXIMUM INTERPOLATION ACHIEVABLE</vt:lpstr>
      <vt:lpstr>Impact of Different Polytropic Index 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Katta Naveen</dc:creator>
  <cp:lastModifiedBy>Katta Naveen</cp:lastModifiedBy>
  <cp:revision>2</cp:revision>
  <dcterms:created xsi:type="dcterms:W3CDTF">2024-11-08T21:45:30Z</dcterms:created>
  <dcterms:modified xsi:type="dcterms:W3CDTF">2024-11-12T09:52:01Z</dcterms:modified>
</cp:coreProperties>
</file>